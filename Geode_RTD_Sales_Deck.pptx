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EFDA"/>
    <a:srgbClr val="00BAFE"/>
    <a:srgbClr val="DC2525"/>
    <a:srgbClr val="E99139"/>
    <a:srgbClr val="5E4703"/>
    <a:srgbClr val="0F1B2D"/>
    <a:srgbClr val="3199FB"/>
    <a:srgbClr val="0083FB"/>
    <a:srgbClr val="016FD3"/>
    <a:srgbClr val="14B8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93"/>
    <p:restoredTop sz="94610"/>
  </p:normalViewPr>
  <p:slideViewPr>
    <p:cSldViewPr snapToGrid="0" snapToObjects="1">
      <p:cViewPr>
        <p:scale>
          <a:sx n="114" d="100"/>
          <a:sy n="114" d="100"/>
        </p:scale>
        <p:origin x="536" y="1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777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3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26.sv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4.svg"/><Relationship Id="rId20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24" Type="http://schemas.microsoft.com/office/2007/relationships/hdphoto" Target="../media/hdphoto4.wdp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2.png"/><Relationship Id="rId10" Type="http://schemas.openxmlformats.org/officeDocument/2006/relationships/image" Target="../media/image18.svg"/><Relationship Id="rId19" Type="http://schemas.openxmlformats.org/officeDocument/2006/relationships/image" Target="../media/image27.pn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Relationship Id="rId22" Type="http://schemas.openxmlformats.org/officeDocument/2006/relationships/image" Target="../media/image3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6.wdp"/><Relationship Id="rId5" Type="http://schemas.microsoft.com/office/2007/relationships/hdphoto" Target="../media/hdphoto5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microsoft.com/office/2007/relationships/hdphoto" Target="../media/hdphoto7.wd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41063"/>
            <a:ext cx="9144000" cy="54864"/>
          </a:xfrm>
          <a:prstGeom prst="rect">
            <a:avLst/>
          </a:prstGeom>
          <a:solidFill>
            <a:srgbClr val="00B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199" y="936271"/>
            <a:ext cx="6628002" cy="198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chemeClr val="bg1"/>
                </a:solidFill>
                <a:latin typeface="Avenir Book" panose="02000503020000020003" pitchFamily="2" charset="0"/>
                <a:ea typeface="Trebuchet MS" pitchFamily="34" charset="-122"/>
                <a:cs typeface="Trebuchet MS" pitchFamily="34" charset="-120"/>
              </a:rPr>
              <a:t>GEODE</a:t>
            </a:r>
          </a:p>
        </p:txBody>
      </p:sp>
      <p:sp>
        <p:nvSpPr>
          <p:cNvPr id="5" name="Text 3"/>
          <p:cNvSpPr/>
          <p:nvPr/>
        </p:nvSpPr>
        <p:spPr>
          <a:xfrm>
            <a:off x="497260" y="2555374"/>
            <a:ext cx="5486400" cy="36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ln w="0"/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Pig Tracking Platform</a:t>
            </a:r>
            <a:endParaRPr lang="en-US" sz="2600" dirty="0">
              <a:ln w="0"/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199" y="310009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chasing boxes. Start seeing your pipeline.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666017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Overview  |  Confidential — Pigtracks &amp; Scissortail Instruments © 2026</a:t>
            </a:r>
            <a:endParaRPr lang="en-US" sz="9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F9EBB25-F5BC-2590-58AD-3474A8B77320}"/>
              </a:ext>
            </a:extLst>
          </p:cNvPr>
          <p:cNvGrpSpPr/>
          <p:nvPr/>
        </p:nvGrpSpPr>
        <p:grpSpPr>
          <a:xfrm>
            <a:off x="9687394" y="3775971"/>
            <a:ext cx="2038596" cy="1316363"/>
            <a:chOff x="6794069" y="3827137"/>
            <a:chExt cx="2038596" cy="131636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FE820B9-3E53-A1BF-86C0-0212411DD8BF}"/>
                </a:ext>
              </a:extLst>
            </p:cNvPr>
            <p:cNvGrpSpPr/>
            <p:nvPr/>
          </p:nvGrpSpPr>
          <p:grpSpPr>
            <a:xfrm>
              <a:off x="6794069" y="3827137"/>
              <a:ext cx="2038596" cy="1316363"/>
              <a:chOff x="705690" y="312612"/>
              <a:chExt cx="2038596" cy="1316363"/>
            </a:xfrm>
          </p:grpSpPr>
          <p:sp>
            <p:nvSpPr>
              <p:cNvPr id="3" name="Text 1"/>
              <p:cNvSpPr/>
              <p:nvPr/>
            </p:nvSpPr>
            <p:spPr>
              <a:xfrm>
                <a:off x="705690" y="484662"/>
                <a:ext cx="1923211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kern="0" spc="400" dirty="0">
                    <a:solidFill>
                      <a:srgbClr val="F8EFDA"/>
                    </a:solidFill>
                    <a:latin typeface="Lucida Grande" panose="020B0600040502020204" pitchFamily="34" charset="0"/>
                    <a:ea typeface="Trebuchet MS" pitchFamily="34" charset="-122"/>
                    <a:cs typeface="Lucida Grande" panose="020B0600040502020204" pitchFamily="34" charset="0"/>
                  </a:rPr>
                  <a:t>SCISSORTAIL 	</a:t>
                </a:r>
                <a:endParaRPr lang="en-US" sz="1200" dirty="0">
                  <a:solidFill>
                    <a:srgbClr val="F8EFDA"/>
                  </a:solidFill>
                  <a:latin typeface="Lucida Grande" panose="020B0600040502020204" pitchFamily="34" charset="0"/>
                  <a:cs typeface="Lucida Grande" panose="020B0600040502020204" pitchFamily="34" charset="0"/>
                </a:endParaRPr>
              </a:p>
            </p:txBody>
          </p:sp>
          <p:pic>
            <p:nvPicPr>
              <p:cNvPr id="13" name="Picture 12" descr="A blue bird with black background&#10;&#10;Description automatically generated">
                <a:extLst>
                  <a:ext uri="{FF2B5EF4-FFF2-40B4-BE49-F238E27FC236}">
                    <a16:creationId xmlns:a16="http://schemas.microsoft.com/office/drawing/2014/main" id="{F2F1BEEC-694A-8F24-A67E-17A2F4DB88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33000"/>
                        </a14:imgEffect>
                        <a14:imgEffect>
                          <a14:brightnessContrast brigh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 rot="21344457">
                <a:off x="1427923" y="312612"/>
                <a:ext cx="1316363" cy="1316363"/>
              </a:xfrm>
              <a:prstGeom prst="rect">
                <a:avLst/>
              </a:prstGeom>
            </p:spPr>
          </p:pic>
        </p:grpSp>
        <p:sp>
          <p:nvSpPr>
            <p:cNvPr id="17" name="Text 1">
              <a:extLst>
                <a:ext uri="{FF2B5EF4-FFF2-40B4-BE49-F238E27FC236}">
                  <a16:creationId xmlns:a16="http://schemas.microsoft.com/office/drawing/2014/main" id="{F939C322-93B6-51ED-6BFD-3235C5B6D723}"/>
                </a:ext>
              </a:extLst>
            </p:cNvPr>
            <p:cNvSpPr/>
            <p:nvPr/>
          </p:nvSpPr>
          <p:spPr>
            <a:xfrm>
              <a:off x="6887907" y="4224219"/>
              <a:ext cx="1410488" cy="213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kern="0" spc="40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Avenir Book" panose="02000503020000020003" pitchFamily="2" charset="0"/>
                  <a:ea typeface="Trebuchet MS" pitchFamily="34" charset="-122"/>
                  <a:cs typeface="Trebuchet MS" pitchFamily="34" charset="-120"/>
                </a:rPr>
                <a:t>TECHNOLOGIES</a:t>
              </a:r>
              <a:endParaRPr lang="en-US" sz="700" dirty="0">
                <a:solidFill>
                  <a:schemeClr val="accent4">
                    <a:lumMod val="20000"/>
                    <a:lumOff val="80000"/>
                  </a:schemeClr>
                </a:solidFill>
                <a:latin typeface="Avenir Book" panose="02000503020000020003" pitchFamily="2" charset="0"/>
              </a:endParaRPr>
            </a:p>
          </p:txBody>
        </p:sp>
      </p:grpSp>
      <p:pic>
        <p:nvPicPr>
          <p:cNvPr id="15" name="Picture 1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02ECC0A-75B7-CC6C-62EB-A65BD3E0189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  <a14:imgEffect>
                      <a14:saturation sat="194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58799" y="1664676"/>
            <a:ext cx="524967" cy="55161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6F7544A-11B7-C3FE-72BC-292C8531FB63}"/>
              </a:ext>
            </a:extLst>
          </p:cNvPr>
          <p:cNvSpPr txBox="1"/>
          <p:nvPr/>
        </p:nvSpPr>
        <p:spPr>
          <a:xfrm>
            <a:off x="4185366" y="1954753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ea typeface="Verdana" panose="020B0604030504040204" pitchFamily="34" charset="0"/>
                <a:cs typeface="Verdana" panose="020B0604030504040204" pitchFamily="34" charset="0"/>
              </a:rPr>
              <a:t> (gee-</a:t>
            </a:r>
            <a:r>
              <a:rPr lang="en-US" sz="1800" i="1" dirty="0" err="1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ea typeface="Verdana" panose="020B0604030504040204" pitchFamily="34" charset="0"/>
                <a:cs typeface="Verdana" panose="020B0604030504040204" pitchFamily="34" charset="0"/>
              </a:rPr>
              <a:t>ohh’d</a:t>
            </a:r>
            <a:r>
              <a:rPr lang="en-US" sz="1800" i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en-US" sz="4400" i="1" dirty="0">
              <a:solidFill>
                <a:schemeClr val="bg1">
                  <a:lumMod val="65000"/>
                </a:schemeClr>
              </a:solidFill>
              <a:latin typeface="Avenir Book" panose="02000503020000020003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65E5478-1447-F6B6-217D-B170AF5F5C55}"/>
              </a:ext>
            </a:extLst>
          </p:cNvPr>
          <p:cNvGrpSpPr/>
          <p:nvPr/>
        </p:nvGrpSpPr>
        <p:grpSpPr>
          <a:xfrm>
            <a:off x="6998115" y="4042077"/>
            <a:ext cx="1988011" cy="1156791"/>
            <a:chOff x="771950" y="293805"/>
            <a:chExt cx="1988011" cy="1156791"/>
          </a:xfrm>
        </p:grpSpPr>
        <p:sp>
          <p:nvSpPr>
            <p:cNvPr id="28" name="Text 1">
              <a:extLst>
                <a:ext uri="{FF2B5EF4-FFF2-40B4-BE49-F238E27FC236}">
                  <a16:creationId xmlns:a16="http://schemas.microsoft.com/office/drawing/2014/main" id="{DEFAFE62-5150-2E12-DC30-0E95476CED77}"/>
                </a:ext>
              </a:extLst>
            </p:cNvPr>
            <p:cNvSpPr/>
            <p:nvPr/>
          </p:nvSpPr>
          <p:spPr>
            <a:xfrm>
              <a:off x="771950" y="497914"/>
              <a:ext cx="1923211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kern="0" spc="400" dirty="0">
                  <a:solidFill>
                    <a:srgbClr val="F8EFDA"/>
                  </a:solidFill>
                  <a:latin typeface="Lucida Grande" panose="020B0600040502020204" pitchFamily="34" charset="0"/>
                  <a:ea typeface="Trebuchet MS" pitchFamily="34" charset="-122"/>
                  <a:cs typeface="Lucida Grande" panose="020B0600040502020204" pitchFamily="34" charset="0"/>
                </a:rPr>
                <a:t>SCISSORTAIL 	</a:t>
              </a:r>
              <a:endParaRPr lang="en-US" sz="1200" dirty="0">
                <a:solidFill>
                  <a:srgbClr val="F8EFDA"/>
                </a:solidFill>
                <a:latin typeface="Lucida Grande" panose="020B0600040502020204" pitchFamily="34" charset="0"/>
                <a:cs typeface="Lucida Grande" panose="020B0600040502020204" pitchFamily="34" charset="0"/>
              </a:endParaRPr>
            </a:p>
          </p:txBody>
        </p:sp>
        <p:pic>
          <p:nvPicPr>
            <p:cNvPr id="29" name="Picture 28" descr="A blue bird with black background&#10;&#10;Description automatically generated">
              <a:extLst>
                <a:ext uri="{FF2B5EF4-FFF2-40B4-BE49-F238E27FC236}">
                  <a16:creationId xmlns:a16="http://schemas.microsoft.com/office/drawing/2014/main" id="{F7F99155-1E6A-E00B-EE36-522555D10D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33000"/>
                      </a14:imgEffect>
                      <a14:imgEffect>
                        <a14:brightnessContrast brigh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21344457">
              <a:off x="1603170" y="293805"/>
              <a:ext cx="1156791" cy="11567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COST OF RUNNING BLIND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Failed Pig Run Actually Costs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64008" cy="1051560"/>
          </a:xfrm>
          <a:prstGeom prst="rect">
            <a:avLst/>
          </a:prstGeom>
          <a:solidFill>
            <a:srgbClr val="DC252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941185" y="18288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664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$15K–$100K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508760" y="2066544"/>
            <a:ext cx="2720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a failed ILI run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remobilization.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frustration, fuel, labor, overages.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2834640"/>
            <a:ext cx="3657600" cy="11658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2834639"/>
            <a:ext cx="64008" cy="1165859"/>
          </a:xfrm>
          <a:prstGeom prst="rect">
            <a:avLst/>
          </a:prstGeom>
          <a:solidFill>
            <a:srgbClr val="DC252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969264" y="32461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9443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4–8 hours+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1508760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driving to check on AGMs that were dead on arrival. Missed data for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innaccurate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location correlation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846320" y="1554480"/>
            <a:ext cx="3840480" cy="2331720"/>
          </a:xfrm>
          <a:prstGeom prst="rect">
            <a:avLst/>
          </a:prstGeom>
          <a:solidFill>
            <a:srgbClr val="0F1B2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12064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Pig Run, You Gamble On:</a:t>
            </a:r>
            <a:endParaRPr lang="en-US" sz="1400" dirty="0">
              <a:solidFill>
                <a:srgbClr val="00BAFE"/>
              </a:solidFill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210312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40680" y="20756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20+ AGMs still powered on?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2432304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40680" y="24048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that last rainstorm or an animal shift any units?</a:t>
            </a:r>
            <a:endParaRPr lang="en-US" sz="11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2761488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40680" y="27340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SD card even recording?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090672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440680" y="30632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you know the pig passed — or missed?</a:t>
            </a:r>
            <a:endParaRPr lang="en-US" sz="11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419856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440680" y="33924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will you find out a device failed?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731520" y="4160520"/>
            <a:ext cx="8229600" cy="71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solution is to throw time and manpower at the problem.</a:t>
            </a:r>
          </a:p>
          <a:p>
            <a:pPr marL="0" indent="0">
              <a:buNone/>
            </a:pPr>
            <a:endParaRPr lang="en-US" sz="1400" i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i="1" u="sng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Geode RTD eliminates every one of these risks, making teams more effective and able to do more jobs.</a:t>
            </a:r>
            <a:endParaRPr lang="en-US" sz="1400" u="sng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8E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08660" y="289853"/>
            <a:ext cx="7489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300" dirty="0">
                <a:solidFill>
                  <a:srgbClr val="F8EFDA"/>
                </a:solidFill>
                <a:latin typeface="Avenir Book" panose="02000503020000020003" pitchFamily="2" charset="0"/>
                <a:ea typeface="Trebuchet MS" pitchFamily="34" charset="-122"/>
                <a:cs typeface="Trebuchet MS" pitchFamily="34" charset="-120"/>
              </a:rPr>
              <a:t>THE SCISSORTAIL GEODE</a:t>
            </a:r>
            <a:endParaRPr lang="en-US" dirty="0">
              <a:solidFill>
                <a:srgbClr val="F8EFDA"/>
              </a:solidFill>
              <a:latin typeface="Avenir Book" panose="02000503020000020003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25780" y="83965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Compact Device. Every Detection Method.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25780" y="1545625"/>
            <a:ext cx="2514600" cy="2651760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5780" y="1545625"/>
            <a:ext cx="2514600" cy="54864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753444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2940" y="2385925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Frequency Transmitter (22Hz)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2940" y="2734345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Scissortail’s compact custom coil picks up 15–35Hz pig transmitter pulses through soil and steel. Software configurable detection frequency. 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14700" y="1545625"/>
            <a:ext cx="2514600" cy="2651760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14700" y="1545625"/>
            <a:ext cx="2514600" cy="54864"/>
          </a:xfrm>
          <a:prstGeom prst="rect">
            <a:avLst/>
          </a:prstGeom>
          <a:solidFill>
            <a:srgbClr val="E991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451860" y="2368585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Acoustic Accelerometer</a:t>
            </a:r>
          </a:p>
          <a:p>
            <a:pPr marL="0" indent="0">
              <a:buNone/>
            </a:pPr>
            <a:r>
              <a:rPr lang="en-US" sz="1500" b="1" dirty="0">
                <a:latin typeface="Trebuchet MS" pitchFamily="34" charset="0"/>
              </a:rPr>
              <a:t>+ Traditional Geophone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51860" y="2916013"/>
            <a:ext cx="2240280" cy="1098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new and proven technology. Acoustic weld-strike counting for pig velocity calculation. Works on every pig, with or without a transmitter.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03620" y="1545625"/>
            <a:ext cx="2514600" cy="2651760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103620" y="1545625"/>
            <a:ext cx="25146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6240780" y="2322865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Magnetic Passage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40780" y="2734345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3-axis magnetometer detects ILI pig magnets. Exact waveform pattern matching with zero-crossing gives the most precise passage timestamp.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25780" y="4517425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E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timestamp precision  ·  4 simultaneous sensor channels  · 24-bit resolution</a:t>
            </a:r>
            <a:endParaRPr lang="en-US" sz="1100" dirty="0">
              <a:solidFill>
                <a:srgbClr val="F8EFDA"/>
              </a:solidFill>
            </a:endParaRPr>
          </a:p>
        </p:txBody>
      </p:sp>
      <p:pic>
        <p:nvPicPr>
          <p:cNvPr id="26" name="Graphic 25" descr="Compass with solid fill">
            <a:extLst>
              <a:ext uri="{FF2B5EF4-FFF2-40B4-BE49-F238E27FC236}">
                <a16:creationId xmlns:a16="http://schemas.microsoft.com/office/drawing/2014/main" id="{3BAF0965-57A4-CF93-1C59-8BF28A0893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2279" y="1699805"/>
            <a:ext cx="521208" cy="521208"/>
          </a:xfrm>
          <a:prstGeom prst="rect">
            <a:avLst/>
          </a:prstGeom>
        </p:spPr>
      </p:pic>
      <p:pic>
        <p:nvPicPr>
          <p:cNvPr id="28" name="Graphic 27" descr="Headphones with solid fill">
            <a:extLst>
              <a:ext uri="{FF2B5EF4-FFF2-40B4-BE49-F238E27FC236}">
                <a16:creationId xmlns:a16="http://schemas.microsoft.com/office/drawing/2014/main" id="{46A93FF8-99CD-AFA0-E4F0-F5F1E94095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18348" y="1669069"/>
            <a:ext cx="569398" cy="5693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059"/>
            <a:ext cx="9144000" cy="54864"/>
          </a:xfrm>
          <a:prstGeom prst="rect">
            <a:avLst/>
          </a:prstGeom>
          <a:solidFill>
            <a:srgbClr val="F8E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2261" y="192035"/>
            <a:ext cx="8229600" cy="47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OF MINDSET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6847" y="1858522"/>
            <a:ext cx="8229600" cy="65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venir Book" panose="02000503020000020003" pitchFamily="2" charset="0"/>
                <a:ea typeface="Trebuchet MS" pitchFamily="34" charset="-122"/>
                <a:cs typeface="Trebuchet MS" pitchFamily="34" charset="-120"/>
              </a:rPr>
              <a:t>Above Ground Monitor 		Remote Tracking Device</a:t>
            </a:r>
            <a:endParaRPr lang="en-US" sz="2400" dirty="0">
              <a:latin typeface="Avenir Book" panose="02000503020000020003" pitchFamily="2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374243"/>
              </p:ext>
            </p:extLst>
          </p:nvPr>
        </p:nvGraphicFramePr>
        <p:xfrm>
          <a:off x="546847" y="2471382"/>
          <a:ext cx="8046720" cy="23622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Capability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Legacy AGM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Geode RTD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 SD card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Yes. View live data over LTE</a:t>
                      </a:r>
                      <a:endParaRPr lang="en-US" sz="105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fleet visibility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dashboard + alerts</a:t>
                      </a:r>
                      <a:endParaRPr lang="en-US" sz="105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methods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(coil only)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(coil, geophone, mag, accel)</a:t>
                      </a:r>
                      <a:endParaRPr lang="en-US" sz="105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 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 (clock drift)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±100ms (NTP-synced RTC)</a:t>
                      </a:r>
                      <a:endParaRPr lang="en-US" sz="105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state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Yes. Azure IOT Hub Managed</a:t>
                      </a:r>
                      <a:endParaRPr lang="en-US" sz="105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confirmation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 up and check 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+ health on phone</a:t>
                      </a:r>
                      <a:endParaRPr lang="en-US" sz="105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format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post-retrieval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stream + local archive</a:t>
                      </a:r>
                      <a:endParaRPr lang="en-US" sz="105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management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on/off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Intelligent power saving modes</a:t>
                      </a:r>
                      <a:endParaRPr lang="en-US" sz="105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4" name="Graphic 13" descr="Neanderthal Male outline">
            <a:extLst>
              <a:ext uri="{FF2B5EF4-FFF2-40B4-BE49-F238E27FC236}">
                <a16:creationId xmlns:a16="http://schemas.microsoft.com/office/drawing/2014/main" id="{718E4FBF-842D-0594-C45D-D77D22A6DD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9573" y="947858"/>
            <a:ext cx="914400" cy="914400"/>
          </a:xfrm>
          <a:prstGeom prst="rect">
            <a:avLst/>
          </a:prstGeom>
        </p:spPr>
      </p:pic>
      <p:pic>
        <p:nvPicPr>
          <p:cNvPr id="18" name="Graphic 17" descr="Good Idea outline">
            <a:extLst>
              <a:ext uri="{FF2B5EF4-FFF2-40B4-BE49-F238E27FC236}">
                <a16:creationId xmlns:a16="http://schemas.microsoft.com/office/drawing/2014/main" id="{3C456E88-A0EE-ABA0-60A4-B485C998A8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07578" y="177991"/>
            <a:ext cx="430106" cy="430106"/>
          </a:xfrm>
          <a:prstGeom prst="rect">
            <a:avLst/>
          </a:prstGeom>
        </p:spPr>
      </p:pic>
      <p:pic>
        <p:nvPicPr>
          <p:cNvPr id="20" name="Graphic 19" descr="Wireless router outline">
            <a:extLst>
              <a:ext uri="{FF2B5EF4-FFF2-40B4-BE49-F238E27FC236}">
                <a16:creationId xmlns:a16="http://schemas.microsoft.com/office/drawing/2014/main" id="{718A5D86-46DD-1BF3-40B7-5250D16ED9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99162" y="1264036"/>
            <a:ext cx="650239" cy="650239"/>
          </a:xfrm>
          <a:prstGeom prst="rect">
            <a:avLst/>
          </a:prstGeom>
        </p:spPr>
      </p:pic>
      <p:pic>
        <p:nvPicPr>
          <p:cNvPr id="22" name="Graphic 21" descr="Stop outline">
            <a:extLst>
              <a:ext uri="{FF2B5EF4-FFF2-40B4-BE49-F238E27FC236}">
                <a16:creationId xmlns:a16="http://schemas.microsoft.com/office/drawing/2014/main" id="{91AABCE0-9C4F-C6C3-4B7E-B638FD06B6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90681" y="1287371"/>
            <a:ext cx="635000" cy="635000"/>
          </a:xfrm>
          <a:prstGeom prst="rect">
            <a:avLst/>
          </a:prstGeom>
        </p:spPr>
      </p:pic>
      <p:pic>
        <p:nvPicPr>
          <p:cNvPr id="26" name="Graphic 25" descr="Online Network outline">
            <a:extLst>
              <a:ext uri="{FF2B5EF4-FFF2-40B4-BE49-F238E27FC236}">
                <a16:creationId xmlns:a16="http://schemas.microsoft.com/office/drawing/2014/main" id="{BD348BC2-525D-1AB1-D365-27018C70E7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65702" y="997209"/>
            <a:ext cx="914400" cy="914400"/>
          </a:xfrm>
          <a:prstGeom prst="rect">
            <a:avLst/>
          </a:prstGeom>
        </p:spPr>
      </p:pic>
      <p:pic>
        <p:nvPicPr>
          <p:cNvPr id="29" name="Graphic 28" descr="Good Idea outline">
            <a:extLst>
              <a:ext uri="{FF2B5EF4-FFF2-40B4-BE49-F238E27FC236}">
                <a16:creationId xmlns:a16="http://schemas.microsoft.com/office/drawing/2014/main" id="{008ABD73-8B11-D8B6-FF6B-2296C162EE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5719671" y="177991"/>
            <a:ext cx="430106" cy="430106"/>
          </a:xfrm>
          <a:prstGeom prst="rect">
            <a:avLst/>
          </a:prstGeom>
        </p:spPr>
      </p:pic>
      <p:pic>
        <p:nvPicPr>
          <p:cNvPr id="32" name="Graphic 31" descr="Monster Truck outline">
            <a:extLst>
              <a:ext uri="{FF2B5EF4-FFF2-40B4-BE49-F238E27FC236}">
                <a16:creationId xmlns:a16="http://schemas.microsoft.com/office/drawing/2014/main" id="{1D3F58A3-FF0E-B44B-E514-05966197C55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33047" y="1027974"/>
            <a:ext cx="914400" cy="914400"/>
          </a:xfrm>
          <a:prstGeom prst="rect">
            <a:avLst/>
          </a:prstGeom>
        </p:spPr>
      </p:pic>
      <p:pic>
        <p:nvPicPr>
          <p:cNvPr id="34" name="Graphic 33" descr="Arrow: Straight outline">
            <a:extLst>
              <a:ext uri="{FF2B5EF4-FFF2-40B4-BE49-F238E27FC236}">
                <a16:creationId xmlns:a16="http://schemas.microsoft.com/office/drawing/2014/main" id="{2DCFC967-3081-D621-9DDF-559A10AC357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10800000">
            <a:off x="4045708" y="1110807"/>
            <a:ext cx="914400" cy="914400"/>
          </a:xfrm>
          <a:prstGeom prst="rect">
            <a:avLst/>
          </a:prstGeom>
        </p:spPr>
      </p:pic>
      <p:pic>
        <p:nvPicPr>
          <p:cNvPr id="41" name="Graphic 40" descr="Empty battery with solid fill">
            <a:extLst>
              <a:ext uri="{FF2B5EF4-FFF2-40B4-BE49-F238E27FC236}">
                <a16:creationId xmlns:a16="http://schemas.microsoft.com/office/drawing/2014/main" id="{E3F15A9F-CC85-29CD-51A9-A5329F5665D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833080" y="1454409"/>
            <a:ext cx="350991" cy="350991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A4194D20-FED6-4B9C-0F47-9BBEC89EEA50}"/>
              </a:ext>
            </a:extLst>
          </p:cNvPr>
          <p:cNvGrpSpPr/>
          <p:nvPr/>
        </p:nvGrpSpPr>
        <p:grpSpPr>
          <a:xfrm>
            <a:off x="6439648" y="945107"/>
            <a:ext cx="914400" cy="919935"/>
            <a:chOff x="6350001" y="936143"/>
            <a:chExt cx="914400" cy="919935"/>
          </a:xfrm>
        </p:grpSpPr>
        <p:pic>
          <p:nvPicPr>
            <p:cNvPr id="24" name="Graphic 23" descr="Programmer male outline">
              <a:extLst>
                <a:ext uri="{FF2B5EF4-FFF2-40B4-BE49-F238E27FC236}">
                  <a16:creationId xmlns:a16="http://schemas.microsoft.com/office/drawing/2014/main" id="{10C5E0D8-DBF3-DA53-6033-B3E714F3B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6350001" y="941678"/>
              <a:ext cx="914400" cy="914400"/>
            </a:xfrm>
            <a:prstGeom prst="rect">
              <a:avLst/>
            </a:prstGeom>
          </p:spPr>
        </p:pic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44E8670-ECC9-2EDD-2DC4-ECE95CE654D9}"/>
                </a:ext>
              </a:extLst>
            </p:cNvPr>
            <p:cNvSpPr/>
            <p:nvPr/>
          </p:nvSpPr>
          <p:spPr>
            <a:xfrm>
              <a:off x="6527991" y="936143"/>
              <a:ext cx="543140" cy="459951"/>
            </a:xfrm>
            <a:prstGeom prst="ellipse">
              <a:avLst/>
            </a:prstGeom>
            <a:solidFill>
              <a:srgbClr val="0F1B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D17F716-E3F1-6112-9483-04EC38A43FE4}"/>
                </a:ext>
              </a:extLst>
            </p:cNvPr>
            <p:cNvSpPr/>
            <p:nvPr/>
          </p:nvSpPr>
          <p:spPr>
            <a:xfrm>
              <a:off x="6658715" y="1559043"/>
              <a:ext cx="308132" cy="232327"/>
            </a:xfrm>
            <a:prstGeom prst="ellipse">
              <a:avLst/>
            </a:prstGeom>
            <a:solidFill>
              <a:srgbClr val="0F1B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3" name="Graphic 52" descr="Smiling with hearts face outline outline">
            <a:extLst>
              <a:ext uri="{FF2B5EF4-FFF2-40B4-BE49-F238E27FC236}">
                <a16:creationId xmlns:a16="http://schemas.microsoft.com/office/drawing/2014/main" id="{C397F2CA-8AC1-4D46-E838-C8946C5C43E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64428" y="993120"/>
            <a:ext cx="464840" cy="464840"/>
          </a:xfrm>
          <a:prstGeom prst="rect">
            <a:avLst/>
          </a:prstGeom>
        </p:spPr>
      </p:pic>
      <p:pic>
        <p:nvPicPr>
          <p:cNvPr id="54" name="Picture 5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EE73A33-C788-8C1F-2062-BBA5F0BC017A}"/>
              </a:ext>
            </a:extLst>
          </p:cNvPr>
          <p:cNvPicPr>
            <a:picLocks noChangeAspect="1"/>
          </p:cNvPicPr>
          <p:nvPr/>
        </p:nvPicPr>
        <p:blipFill>
          <a:blip r:embed="rId23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colorTemperature colorTemp="4700"/>
                    </a14:imgEffect>
                    <a14:imgEffect>
                      <a14:saturation sat="194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92810" y="1272527"/>
            <a:ext cx="574077" cy="5740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REAL DIFFERENCE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See </a:t>
            </a:r>
            <a:r>
              <a:rPr lang="en-US" sz="2800" b="1" u="sng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</a:t>
            </a: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in Real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6576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657600" cy="457200"/>
          </a:xfrm>
          <a:prstGeom prst="rect">
            <a:avLst/>
          </a:prstGeom>
          <a:solidFill>
            <a:srgbClr val="5E47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7556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BEFORE: Legacy AGM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2+ boxes per AGM and hope they 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715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715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to each unit to check status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099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30998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SD cards days after the run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4838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review CSVs for passage times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867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3867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dead units after it's too late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73736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1737360"/>
            <a:ext cx="3840480" cy="457200"/>
          </a:xfrm>
          <a:prstGeom prst="rect">
            <a:avLst/>
          </a:prstGeom>
          <a:solidFill>
            <a:srgbClr val="00B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17556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NOW: GEODE RTD</a:t>
            </a:r>
            <a:endParaRPr lang="en-US" sz="13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354024"/>
            <a:ext cx="228600" cy="2286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30352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confirm live from your truck</a:t>
            </a:r>
            <a:endParaRPr lang="en-US" sz="12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738072"/>
            <a:ext cx="228600" cy="2286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303520" y="2715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dashboard shows every device's health</a:t>
            </a:r>
            <a:endParaRPr lang="en-US" sz="12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122120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303520" y="30998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live passage streams in real time</a:t>
            </a:r>
            <a:endParaRPr lang="en-US" sz="12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506168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03520" y="3483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Pigtracks to mark passages</a:t>
            </a:r>
            <a:endParaRPr lang="en-US" sz="12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890216"/>
            <a:ext cx="228600" cy="2286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303520" y="3867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F76D4C66-338A-26B2-5431-D7318947F4BA}"/>
              </a:ext>
            </a:extLst>
          </p:cNvPr>
          <p:cNvSpPr/>
          <p:nvPr/>
        </p:nvSpPr>
        <p:spPr>
          <a:xfrm>
            <a:off x="5303520" y="38450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 days ahead of run and Remote Track.</a:t>
            </a:r>
            <a:endParaRPr lang="en-US" sz="1200" dirty="0"/>
          </a:p>
        </p:txBody>
      </p:sp>
      <p:pic>
        <p:nvPicPr>
          <p:cNvPr id="32" name="Picture 3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75D1E99-BF7D-5262-8673-EDBB50A08FE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194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52060" y="1755648"/>
            <a:ext cx="411480" cy="411480"/>
          </a:xfrm>
          <a:prstGeom prst="rect">
            <a:avLst/>
          </a:prstGeom>
        </p:spPr>
      </p:pic>
      <p:pic>
        <p:nvPicPr>
          <p:cNvPr id="33" name="Picture 3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FBE8732-8592-AFE1-7E3C-A5999AC1DC2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  <a14:imgEffect>
                      <a14:saturation sat="194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89729" y="1755648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8E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59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991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 DEPLOYMENT</a:t>
            </a:r>
            <a:endParaRPr lang="en-US" sz="1200" dirty="0">
              <a:solidFill>
                <a:srgbClr val="E99139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314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20 Units Before Lunch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</a:rPr>
              <a:t>Watch them all from the truck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982828"/>
            <a:ext cx="640080" cy="640080"/>
          </a:xfrm>
          <a:prstGeom prst="ellipse">
            <a:avLst/>
          </a:prstGeom>
          <a:solidFill>
            <a:srgbClr val="00B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00111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83080" y="2092556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8057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11480" y="321726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power button.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at survey location.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appears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seconds.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08960" y="1982828"/>
            <a:ext cx="640080" cy="640080"/>
          </a:xfrm>
          <a:prstGeom prst="ellipse">
            <a:avLst/>
          </a:prstGeom>
          <a:solidFill>
            <a:srgbClr val="0EA5A0"/>
          </a:solidFill>
          <a:ln/>
        </p:spPr>
        <p:txBody>
          <a:bodyPr/>
          <a:lstStyle/>
          <a:p>
            <a:r>
              <a:rPr lang="en-US" dirty="0"/>
              <a:t>2</a:t>
            </a: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77640" y="2092556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06040" y="28057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 &amp; Confirm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606040" y="321726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connects to Wi-Fi for device status: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battery, GPS, network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sensor check.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303520" y="1982828"/>
            <a:ext cx="640080" cy="640080"/>
          </a:xfrm>
          <a:prstGeom prst="ellipse">
            <a:avLst/>
          </a:prstGeom>
          <a:solidFill>
            <a:srgbClr val="00B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303520" y="200111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172200" y="2092556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00600" y="28057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Walk Away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800600" y="321726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reports to cloud.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Mode Management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Pigging Project ready.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498080" y="1982828"/>
            <a:ext cx="640080" cy="640080"/>
          </a:xfrm>
          <a:prstGeom prst="ellipse">
            <a:avLst/>
          </a:prstGeom>
          <a:solidFill>
            <a:srgbClr val="E991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7498080" y="200111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6995160" y="28057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 Remotely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995160" y="321726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dashboard.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Charts and Data.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alerts.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status.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57200" y="4268136"/>
            <a:ext cx="8046720" cy="54864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430946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05840" y="435779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Solar-charged Li-Ion Battery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runtime</a:t>
            </a:r>
            <a:endParaRPr lang="en-US" sz="10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6668" y="4430946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148148" y="435779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LTE-M cellular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connected</a:t>
            </a:r>
            <a:endParaRPr lang="en-US" sz="10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430946"/>
            <a:ext cx="320040" cy="32004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029200" y="435779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GNSS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Auto-reports its own position</a:t>
            </a:r>
            <a:endParaRPr lang="en-US" sz="10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430946"/>
            <a:ext cx="320040" cy="32004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040880" y="435779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ruggedized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Water, Rain, mud, UV</a:t>
            </a:r>
            <a:endParaRPr lang="en-US" sz="1000" dirty="0"/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8CE00480-FA57-9A98-1A04-E0BD4EEEACCE}"/>
              </a:ext>
            </a:extLst>
          </p:cNvPr>
          <p:cNvSpPr/>
          <p:nvPr/>
        </p:nvSpPr>
        <p:spPr>
          <a:xfrm>
            <a:off x="3095011" y="1982828"/>
            <a:ext cx="640080" cy="640080"/>
          </a:xfrm>
          <a:prstGeom prst="ellipse">
            <a:avLst/>
          </a:prstGeom>
          <a:solidFill>
            <a:srgbClr val="00B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00F4794E-BB69-E03B-93C8-414FF8F6B446}"/>
              </a:ext>
            </a:extLst>
          </p:cNvPr>
          <p:cNvSpPr/>
          <p:nvPr/>
        </p:nvSpPr>
        <p:spPr>
          <a:xfrm>
            <a:off x="3110510" y="200111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</a:rPr>
              <a:t>2</a:t>
            </a:r>
            <a:endParaRPr lang="en-US" sz="2200" dirty="0"/>
          </a:p>
        </p:txBody>
      </p:sp>
      <p:pic>
        <p:nvPicPr>
          <p:cNvPr id="35" name="Picture 2" descr="Generated image: Rugged outdoor electronics in nature">
            <a:extLst>
              <a:ext uri="{FF2B5EF4-FFF2-40B4-BE49-F238E27FC236}">
                <a16:creationId xmlns:a16="http://schemas.microsoft.com/office/drawing/2014/main" id="{630A8DA5-C7A6-C229-5C18-A62A8B318D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627"/>
          <a:stretch/>
        </p:blipFill>
        <p:spPr bwMode="auto">
          <a:xfrm>
            <a:off x="6063673" y="291942"/>
            <a:ext cx="2286360" cy="1556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MOVE-ON-YOUR-FEET INTELLIGENCE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 pig tracking equipment from anywhere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657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Health Dashboard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21762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level, last check-in, LTE signal strength, sensor status, and GPS position for every unit in your fleet on one screen.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737360"/>
            <a:ext cx="3657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8745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Remote Control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40680" y="21762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any device between standby, active streaming, and sleep modes from Pigtracks. No truck roll.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3063240"/>
            <a:ext cx="3657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2004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Alerts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417320" y="35021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battery, LTE failure, enclosure breach, or silent device. If there is an issue, you know immediately, not days later.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3063240"/>
            <a:ext cx="3657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2004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4068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Project-Based Organization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440680" y="35021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devices by pipeline, project, or customer. Query fleet by battery, state, or location.</a:t>
            </a:r>
          </a:p>
          <a:p>
            <a:pPr marL="0" indent="0">
              <a:buNone/>
            </a:pPr>
            <a:endParaRPr lang="en-US" sz="1100" dirty="0">
              <a:solidFill>
                <a:srgbClr val="94A3B8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Generate Pigtracks Reports.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731520" y="4493029"/>
            <a:ext cx="7680960" cy="4114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>
              <a:solidFill>
                <a:srgbClr val="00BAFE"/>
              </a:solidFill>
            </a:endParaRPr>
          </a:p>
        </p:txBody>
      </p:sp>
      <p:sp>
        <p:nvSpPr>
          <p:cNvPr id="22" name="Text 16"/>
          <p:cNvSpPr/>
          <p:nvPr/>
        </p:nvSpPr>
        <p:spPr>
          <a:xfrm>
            <a:off x="731520" y="4511317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Azure IoT Hub  · Enterprise-grade security </a:t>
            </a:r>
            <a:endParaRPr lang="en-US" sz="1000" dirty="0">
              <a:solidFill>
                <a:srgbClr val="00BAF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2005" y="1143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PARTNERSHIP MODEL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94885" y="924911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Brand. Our Hardware.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2005" y="1747871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2005" y="1747871"/>
            <a:ext cx="2606040" cy="54864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85" y="1976471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9165" y="2479391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White-Label Ready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9165" y="2890871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Geode hardware can be made under your brand. Your logo, your packaging, your customer relationship. We stay behind the curtain.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2365" y="1747871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92365" y="1747871"/>
            <a:ext cx="2606040" cy="54864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5245" y="1976471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525" y="2479391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Bundle Into Projects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29525" y="2890871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RTD monitoring as a line item in your ILI project bids. Differentiate on data quality. Command premium pricing.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72725" y="1747871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172725" y="1747871"/>
            <a:ext cx="260604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605" y="1976471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885" y="2479391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 Legacy Fleets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09885" y="2890871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aging CDI / IRED AGM inventory for Geode RTDs. No retraining — same field workflow, improved outcomes, dramatically better data.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94885" y="4445351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Scissortail handles firmware updates, cloud infrastructure, and hardware support. You focus on your customers.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8E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0151" y="-46353"/>
            <a:ext cx="822960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Strike Gold with Geode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B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Talk.</a:t>
            </a:r>
            <a:endParaRPr lang="en-US" sz="3200" dirty="0">
              <a:solidFill>
                <a:srgbClr val="00BAFE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70151" y="1649526"/>
            <a:ext cx="6331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demo. See Remote Tracking in action on your next pig run.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70151" y="2285034"/>
            <a:ext cx="2514600" cy="1687068"/>
          </a:xfrm>
          <a:prstGeom prst="rect">
            <a:avLst/>
          </a:prstGeom>
          <a:solidFill>
            <a:srgbClr val="1A274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0151" y="2285034"/>
            <a:ext cx="2514600" cy="54864"/>
          </a:xfrm>
          <a:prstGeom prst="rect">
            <a:avLst/>
          </a:prstGeom>
          <a:solidFill>
            <a:srgbClr val="F8EF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31" y="244048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7311" y="280624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91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 Demo</a:t>
            </a:r>
            <a:endParaRPr lang="en-US" sz="1400" dirty="0">
              <a:solidFill>
                <a:srgbClr val="E99139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07311" y="329087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demonstrate our survey, deployment, monitoring and cloud applications. We service and deploy RTD’s on a real pig run. You see real data, real time.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59071" y="2285034"/>
            <a:ext cx="2514600" cy="1687068"/>
          </a:xfrm>
          <a:prstGeom prst="rect">
            <a:avLst/>
          </a:prstGeom>
          <a:solidFill>
            <a:srgbClr val="1A274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59071" y="2285034"/>
            <a:ext cx="2514600" cy="54864"/>
          </a:xfrm>
          <a:prstGeom prst="rect">
            <a:avLst/>
          </a:prstGeom>
          <a:solidFill>
            <a:srgbClr val="F8EF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987" y="243895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6231" y="281157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91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Deep-Dive</a:t>
            </a:r>
            <a:endParaRPr lang="en-US" sz="1400" dirty="0">
              <a:solidFill>
                <a:srgbClr val="E99139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3496231" y="3132378"/>
            <a:ext cx="224028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meets ours. We discuss sensor specs, real-life deployment scenarios, integration points, API access.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47991" y="2285034"/>
            <a:ext cx="2514600" cy="1687068"/>
          </a:xfrm>
          <a:prstGeom prst="rect">
            <a:avLst/>
          </a:prstGeom>
          <a:solidFill>
            <a:srgbClr val="1A274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147991" y="2285034"/>
            <a:ext cx="2514600" cy="54864"/>
          </a:xfrm>
          <a:prstGeom prst="rect">
            <a:avLst/>
          </a:prstGeom>
          <a:solidFill>
            <a:srgbClr val="F8EF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2493" y="2426766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85151" y="281157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91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Partnership Discussion</a:t>
            </a:r>
            <a:endParaRPr lang="en-US" sz="1400" dirty="0">
              <a:solidFill>
                <a:srgbClr val="E99139"/>
              </a:solidFill>
            </a:endParaRPr>
          </a:p>
        </p:txBody>
      </p:sp>
      <p:sp>
        <p:nvSpPr>
          <p:cNvPr id="19" name="Text 14"/>
          <p:cNvSpPr/>
          <p:nvPr/>
        </p:nvSpPr>
        <p:spPr>
          <a:xfrm>
            <a:off x="6285151" y="3126282"/>
            <a:ext cx="2240280" cy="475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terms, volume pricing, fleet migration planning.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Scissortail | 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scistail.com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Built for the Field.</a:t>
            </a:r>
            <a:endParaRPr lang="en-US" sz="10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BE13AD6-5C0D-5EA7-4795-2FCCA854CFC2}"/>
              </a:ext>
            </a:extLst>
          </p:cNvPr>
          <p:cNvGrpSpPr/>
          <p:nvPr/>
        </p:nvGrpSpPr>
        <p:grpSpPr>
          <a:xfrm>
            <a:off x="6668253" y="3991152"/>
            <a:ext cx="2716046" cy="1316363"/>
            <a:chOff x="1506431" y="211266"/>
            <a:chExt cx="2716046" cy="1316363"/>
          </a:xfrm>
        </p:grpSpPr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C3F1CA19-5E53-8ABA-1E03-1AEAA0DEC05F}"/>
                </a:ext>
              </a:extLst>
            </p:cNvPr>
            <p:cNvSpPr/>
            <p:nvPr/>
          </p:nvSpPr>
          <p:spPr>
            <a:xfrm>
              <a:off x="2299266" y="821809"/>
              <a:ext cx="1923211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kern="0" spc="400" dirty="0">
                  <a:solidFill>
                    <a:srgbClr val="F8EFDA"/>
                  </a:solidFill>
                  <a:latin typeface="Lucida Grande" panose="020B0600040502020204" pitchFamily="34" charset="0"/>
                  <a:ea typeface="Trebuchet MS" pitchFamily="34" charset="-122"/>
                  <a:cs typeface="Lucida Grande" panose="020B0600040502020204" pitchFamily="34" charset="0"/>
                </a:rPr>
                <a:t>SCISSORTAIL 	</a:t>
              </a:r>
              <a:endParaRPr lang="en-US" sz="1200" dirty="0">
                <a:solidFill>
                  <a:srgbClr val="F8EFDA"/>
                </a:solidFill>
                <a:latin typeface="Lucida Grande" panose="020B0600040502020204" pitchFamily="34" charset="0"/>
                <a:cs typeface="Lucida Grande" panose="020B0600040502020204" pitchFamily="34" charset="0"/>
              </a:endParaRPr>
            </a:p>
          </p:txBody>
        </p:sp>
        <p:pic>
          <p:nvPicPr>
            <p:cNvPr id="25" name="Picture 24" descr="A blue bird with black background&#10;&#10;Description automatically generated">
              <a:extLst>
                <a:ext uri="{FF2B5EF4-FFF2-40B4-BE49-F238E27FC236}">
                  <a16:creationId xmlns:a16="http://schemas.microsoft.com/office/drawing/2014/main" id="{D20B46EF-A7A4-6D2E-EB31-98D32DBB2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33000"/>
                      </a14:imgEffect>
                      <a14:imgEffect>
                        <a14:brightnessContrast brigh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21344457">
              <a:off x="1506431" y="211266"/>
              <a:ext cx="1316363" cy="13163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1563</TotalTime>
  <Words>927</Words>
  <Application>Microsoft Macintosh PowerPoint</Application>
  <PresentationFormat>On-screen Show (16:9)</PresentationFormat>
  <Paragraphs>157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Avenir Book</vt:lpstr>
      <vt:lpstr>Calibri</vt:lpstr>
      <vt:lpstr>Lucida Grande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Geode RTD — Sales Presentation</dc:title>
  <dc:subject>PptxGenJS Presentation</dc:subject>
  <dc:creator>Elemental Technologies</dc:creator>
  <cp:lastModifiedBy>Logan Stover</cp:lastModifiedBy>
  <cp:revision>14</cp:revision>
  <dcterms:created xsi:type="dcterms:W3CDTF">2026-03-17T16:39:56Z</dcterms:created>
  <dcterms:modified xsi:type="dcterms:W3CDTF">2026-03-18T18:59:36Z</dcterms:modified>
</cp:coreProperties>
</file>